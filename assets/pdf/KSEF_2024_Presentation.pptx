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retendard Medium"/>
      <p:bold r:id="rId19"/>
    </p:embeddedFont>
    <p:embeddedFont>
      <p:font typeface="Pretendard SemiBold"/>
      <p:bold r:id="rId20"/>
    </p:embeddedFont>
    <p:embeddedFont>
      <p:font typeface="Pretendard Regular"/>
      <p:regular r:id="rId21"/>
    </p:embeddedFont>
    <p:embeddedFont>
      <p:font typeface="Pretendard Bold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.fntdata" Type="http://schemas.openxmlformats.org/officeDocument/2006/relationships/font"/><Relationship Id="rId2" Target="presProps.xml" Type="http://schemas.openxmlformats.org/officeDocument/2006/relationships/presProps"/><Relationship Id="rId20" Target="fonts/font2.fntdata" Type="http://schemas.openxmlformats.org/officeDocument/2006/relationships/font"/><Relationship Id="rId21" Target="fonts/font3.fntdata" Type="http://schemas.openxmlformats.org/officeDocument/2006/relationships/font"/><Relationship Id="rId22" Target="fonts/font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15" Target="../media/image17.png" Type="http://schemas.openxmlformats.org/officeDocument/2006/relationships/image"/><Relationship Id="rId16" Target="../media/image18.png" Type="http://schemas.openxmlformats.org/officeDocument/2006/relationships/image"/><Relationship Id="rId17" Target="../media/image19.png" Type="http://schemas.openxmlformats.org/officeDocument/2006/relationships/image"/><Relationship Id="rId18" Target="../media/image20.png" Type="http://schemas.openxmlformats.org/officeDocument/2006/relationships/image"/><Relationship Id="rId19" Target="../media/image21.png" Type="http://schemas.openxmlformats.org/officeDocument/2006/relationships/image"/><Relationship Id="rId2" Target="../media/image5.png" Type="http://schemas.openxmlformats.org/officeDocument/2006/relationships/image"/><Relationship Id="rId20" Target="../media/image22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571500"/>
            <a:ext cx="170434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601700" y="419100"/>
            <a:ext cx="28321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995400" y="939800"/>
            <a:ext cx="20447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 spc="100">
                <a:solidFill>
                  <a:srgbClr val="FFFFFF"/>
                </a:solidFill>
                <a:latin typeface="Pretendard Medium"/>
              </a:rPr>
              <a:t>Title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54200" y="6311900"/>
            <a:ext cx="77724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00074E"/>
                </a:solidFill>
                <a:latin typeface="Pretendard SemiBold"/>
              </a:rPr>
              <a:t>LLM</a:t>
            </a:r>
            <a:r>
              <a:rPr lang="ko-KR" sz="3000" b="false" i="false" u="none" strike="noStrike">
                <a:solidFill>
                  <a:srgbClr val="00074E"/>
                </a:solidFill>
                <a:ea typeface="Pretendard SemiBold"/>
              </a:rPr>
              <a:t>의</a:t>
            </a:r>
            <a:r>
              <a:rPr lang="en-US" sz="30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074E"/>
                </a:solidFill>
                <a:ea typeface="Pretendard SemiBold"/>
              </a:rPr>
              <a:t>언어</a:t>
            </a:r>
            <a:r>
              <a:rPr lang="en-US" sz="30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074E"/>
                </a:solidFill>
                <a:ea typeface="Pretendard SemiBold"/>
              </a:rPr>
              <a:t>이해</a:t>
            </a:r>
            <a:r>
              <a:rPr lang="en-US" sz="30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074E"/>
                </a:solidFill>
                <a:ea typeface="Pretendard SemiBold"/>
              </a:rPr>
              <a:t>능력</a:t>
            </a:r>
            <a:r>
              <a:rPr lang="en-US" sz="30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074E"/>
                </a:solidFill>
                <a:ea typeface="Pretendard SemiBold"/>
              </a:rPr>
              <a:t>개선방안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6100" y="8458200"/>
            <a:ext cx="38989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4539"/>
              </a:lnSpc>
            </a:pPr>
            <a:r>
              <a:rPr lang="ko-KR" sz="2000" b="false" i="false" u="none" strike="noStrike" spc="100">
                <a:solidFill>
                  <a:srgbClr val="00074E"/>
                </a:solidFill>
                <a:ea typeface="Pretendard Medium"/>
              </a:rPr>
              <a:t>인천</a:t>
            </a:r>
            <a:r>
              <a:rPr lang="en-US" sz="2000" b="false" i="false" u="none" strike="noStrike" spc="100">
                <a:solidFill>
                  <a:srgbClr val="00074E"/>
                </a:solidFill>
                <a:latin typeface="Pretendard Medium"/>
              </a:rPr>
              <a:t> </a:t>
            </a:r>
            <a:r>
              <a:rPr lang="ko-KR" sz="2000" b="false" i="false" u="none" strike="noStrike" spc="100">
                <a:solidFill>
                  <a:srgbClr val="00074E"/>
                </a:solidFill>
                <a:ea typeface="Pretendard Medium"/>
              </a:rPr>
              <a:t>영선고등학교</a:t>
            </a:r>
            <a:r>
              <a:rPr lang="en-US" sz="2000" b="false" i="false" u="none" strike="noStrike" spc="100">
                <a:solidFill>
                  <a:srgbClr val="00074E"/>
                </a:solidFill>
                <a:latin typeface="Pretendard Medium"/>
              </a:rPr>
              <a:t> </a:t>
            </a:r>
            <a:r>
              <a:rPr lang="ko-KR" sz="2000" b="false" i="false" u="none" strike="noStrike" spc="100">
                <a:solidFill>
                  <a:srgbClr val="00074E"/>
                </a:solidFill>
                <a:ea typeface="Pretendard Medium"/>
              </a:rPr>
              <a:t>백정범</a:t>
            </a:r>
          </a:p>
          <a:p>
            <a:pPr algn="l" lvl="0">
              <a:lnSpc>
                <a:spcPct val="114539"/>
              </a:lnSpc>
            </a:pPr>
            <a:r>
              <a:rPr lang="en-US" sz="2000" b="false" i="false" u="none" strike="noStrike" spc="100">
                <a:solidFill>
                  <a:srgbClr val="00074E"/>
                </a:solidFill>
                <a:latin typeface="Pretendard Medium"/>
              </a:rPr>
              <a:t>a01088926254@gmail.com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00400" y="9474200"/>
            <a:ext cx="165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7899"/>
              </a:lnSpc>
            </a:pPr>
            <a:r>
              <a:rPr lang="en-US" sz="1500" b="false" i="false" u="none" strike="noStrike" spc="100">
                <a:solidFill>
                  <a:srgbClr val="FFFFFF"/>
                </a:solidFill>
                <a:latin typeface="Pretendard Regular"/>
              </a:rPr>
              <a:t>KSEF 2024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6100" y="3098800"/>
            <a:ext cx="7950200" cy="317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ko-KR" sz="10000" b="false" i="false" u="none" strike="noStrike">
                <a:solidFill>
                  <a:srgbClr val="2C2C2C"/>
                </a:solidFill>
                <a:ea typeface="Pretendard SemiBold"/>
              </a:rPr>
              <a:t>비판적</a:t>
            </a:r>
            <a:r>
              <a:rPr lang="en-US" sz="10000" b="false" i="false" u="none" strike="noStrike">
                <a:solidFill>
                  <a:srgbClr val="2C2C2C"/>
                </a:solidFill>
                <a:latin typeface="Pretendard SemiBold"/>
              </a:rPr>
              <a:t> </a:t>
            </a:r>
            <a:r>
              <a:rPr lang="ko-KR" sz="10000" b="false" i="false" u="none" strike="noStrike">
                <a:solidFill>
                  <a:srgbClr val="2C2C2C"/>
                </a:solidFill>
                <a:ea typeface="Pretendard SemiBold"/>
              </a:rPr>
              <a:t>사고의</a:t>
            </a:r>
            <a:r>
              <a:rPr lang="en-US" sz="10000" b="false" i="false" u="none" strike="noStrike">
                <a:solidFill>
                  <a:srgbClr val="2C2C2C"/>
                </a:solidFill>
                <a:latin typeface="Pretendard SemiBold"/>
              </a:rPr>
              <a:t> </a:t>
            </a:r>
            <a:r>
              <a:rPr lang="ko-KR" sz="10000" b="false" i="false" u="none" strike="noStrike">
                <a:solidFill>
                  <a:srgbClr val="2C2C2C"/>
                </a:solidFill>
                <a:ea typeface="Pretendard SemiBold"/>
              </a:rPr>
              <a:t>적용을</a:t>
            </a:r>
            <a:r>
              <a:rPr lang="en-US" sz="10000" b="false" i="false" u="none" strike="noStrike">
                <a:solidFill>
                  <a:srgbClr val="2C2C2C"/>
                </a:solidFill>
                <a:latin typeface="Pretendard SemiBold"/>
              </a:rPr>
              <a:t> </a:t>
            </a:r>
            <a:r>
              <a:rPr lang="ko-KR" sz="10000" b="false" i="false" u="none" strike="noStrike">
                <a:solidFill>
                  <a:srgbClr val="2C2C2C"/>
                </a:solidFill>
                <a:ea typeface="Pretendard SemiBold"/>
              </a:rPr>
              <a:t>통한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571500"/>
            <a:ext cx="17043400" cy="914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040100" y="9474200"/>
            <a:ext cx="165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7899"/>
              </a:lnSpc>
            </a:pPr>
            <a:r>
              <a:rPr lang="en-US" sz="1500" b="false" i="false" u="none" strike="noStrike" spc="100">
                <a:solidFill>
                  <a:srgbClr val="FFFFFF"/>
                </a:solidFill>
                <a:latin typeface="Pretendard Regular"/>
              </a:rPr>
              <a:t>KSEF 2024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88200" y="3060700"/>
            <a:ext cx="26670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242300" y="2552700"/>
            <a:ext cx="558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4A5BA3"/>
                </a:solidFill>
                <a:latin typeface="Pretendard Medium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51700" y="3429000"/>
            <a:ext cx="25400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300" b="false" i="false" u="none" strike="noStrike">
                <a:solidFill>
                  <a:srgbClr val="00074E"/>
                </a:solidFill>
                <a:ea typeface="Pretendard SemiBold"/>
              </a:rPr>
              <a:t>소개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51700" y="4254500"/>
            <a:ext cx="26416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연구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필요성</a:t>
            </a:r>
          </a:p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연구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목표와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연구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진행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88200" y="6210300"/>
            <a:ext cx="26670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8242300" y="5702300"/>
            <a:ext cx="558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4A5BA3"/>
                </a:solidFill>
                <a:latin typeface="Pretendard Medium"/>
              </a:rPr>
              <a:t>04</a:t>
            </a:r>
          </a:p>
        </p:txBody>
      </p:sp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12" id="12"/>
          <p:cNvSpPr txBox="true"/>
          <p:nvPr/>
        </p:nvSpPr>
        <p:spPr>
          <a:xfrm rot="0">
            <a:off x="13614400" y="3429000"/>
            <a:ext cx="26035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300" b="false" i="false" u="none" strike="noStrike">
                <a:solidFill>
                  <a:srgbClr val="00074E"/>
                </a:solidFill>
                <a:ea typeface="Pretendard SemiBold"/>
              </a:rPr>
              <a:t>실험</a:t>
            </a:r>
            <a:r>
              <a:rPr lang="en-US" sz="23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74E"/>
                </a:solidFill>
                <a:ea typeface="Pretendard SemiBold"/>
              </a:rPr>
              <a:t>방법</a:t>
            </a:r>
            <a:r>
              <a:rPr lang="en-US" sz="23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74E"/>
                </a:solidFill>
                <a:ea typeface="Pretendard SemiBold"/>
              </a:rPr>
              <a:t>및</a:t>
            </a:r>
            <a:r>
              <a:rPr lang="en-US" sz="23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74E"/>
                </a:solidFill>
                <a:ea typeface="Pretendard SemiBold"/>
              </a:rPr>
              <a:t>실험</a:t>
            </a:r>
            <a:r>
              <a:rPr lang="en-US" sz="23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00074E"/>
                </a:solidFill>
                <a:ea typeface="Pretendard SemiBold"/>
              </a:rPr>
              <a:t>결과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14400" y="4229100"/>
            <a:ext cx="26543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실험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방법</a:t>
            </a:r>
          </a:p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실험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결과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01300" y="3060700"/>
            <a:ext cx="2667000" cy="12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1455400" y="2552700"/>
            <a:ext cx="558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4A5BA3"/>
                </a:solidFill>
                <a:latin typeface="Pretendard Medium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42600" y="3429000"/>
            <a:ext cx="21971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300" b="false" i="false" u="none" strike="noStrike">
                <a:solidFill>
                  <a:srgbClr val="00074E"/>
                </a:solidFill>
                <a:ea typeface="Pretendard SemiBold"/>
              </a:rPr>
              <a:t>가설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01300" y="6210300"/>
            <a:ext cx="2667000" cy="127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1455400" y="5702300"/>
            <a:ext cx="558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4A5BA3"/>
                </a:solidFill>
                <a:latin typeface="Pretendard Medium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91400" y="6680200"/>
            <a:ext cx="21971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300" b="false" i="false" u="none" strike="noStrike">
                <a:solidFill>
                  <a:srgbClr val="00074E"/>
                </a:solidFill>
                <a:ea typeface="Pretendard SemiBold"/>
              </a:rPr>
              <a:t>결론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88200" y="7277100"/>
            <a:ext cx="26543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한계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향후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연구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방향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614400" y="3060700"/>
            <a:ext cx="2667000" cy="127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4668500" y="2552700"/>
            <a:ext cx="558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4A5BA3"/>
                </a:solidFill>
                <a:latin typeface="Pretendard Medium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01300" y="4000500"/>
            <a:ext cx="26543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관련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연구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&amp; </a:t>
            </a:r>
          </a:p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  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성능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향상의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요인</a:t>
            </a:r>
          </a:p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개선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방안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고안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(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가설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설정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)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7600" y="419100"/>
            <a:ext cx="2832100" cy="14986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511300" y="939800"/>
            <a:ext cx="20447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 spc="100">
                <a:solidFill>
                  <a:srgbClr val="FFFFFF"/>
                </a:solidFill>
                <a:latin typeface="Pretendard Medium"/>
              </a:rPr>
              <a:t>CONTEXT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0500" y="4584700"/>
            <a:ext cx="47244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6000" b="false" i="false" u="none" strike="noStrike">
                <a:solidFill>
                  <a:srgbClr val="00074E"/>
                </a:solidFill>
                <a:ea typeface="Pretendard SemiBold"/>
              </a:rPr>
              <a:t>목차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17200" y="6692900"/>
            <a:ext cx="21971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300" b="false" i="false" u="none" strike="noStrike">
                <a:solidFill>
                  <a:srgbClr val="00074E"/>
                </a:solidFill>
                <a:ea typeface="Pretendard SemiBold"/>
              </a:rPr>
              <a:t>마침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53700" y="7480300"/>
            <a:ext cx="26543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출처</a:t>
            </a:r>
          </a:p>
          <a:p>
            <a:pPr algn="l" lvl="0">
              <a:lnSpc>
                <a:spcPct val="1494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- 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들어주셔서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감사합니다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17600" y="419100"/>
            <a:ext cx="2832100" cy="1498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1300" y="939800"/>
            <a:ext cx="20447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 spc="100">
                <a:solidFill>
                  <a:srgbClr val="FFFFFF"/>
                </a:solidFill>
                <a:latin typeface="Pretendard Medium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5300" y="3365500"/>
            <a:ext cx="69469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000" b="true" i="false" u="none" strike="noStrike">
                <a:solidFill>
                  <a:srgbClr val="2C2C2C"/>
                </a:solidFill>
                <a:ea typeface="Pretendard Regular"/>
              </a:rPr>
              <a:t>대규모</a:t>
            </a:r>
            <a:r>
              <a:rPr lang="en-US" sz="2000" b="tru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2C2C2C"/>
                </a:solidFill>
                <a:ea typeface="Pretendard Regular"/>
              </a:rPr>
              <a:t>언어</a:t>
            </a:r>
            <a:r>
              <a:rPr lang="en-US" sz="2000" b="tru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2C2C2C"/>
                </a:solidFill>
                <a:ea typeface="Pretendard Regular"/>
              </a:rPr>
              <a:t>모델</a:t>
            </a:r>
            <a:r>
              <a:rPr lang="en-US" sz="2000" b="true" i="false" u="none" strike="noStrike">
                <a:solidFill>
                  <a:srgbClr val="2C2C2C"/>
                </a:solidFill>
                <a:latin typeface="Pretendard Regular"/>
              </a:rPr>
              <a:t>(LLM)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최근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인공지능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분야에서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활용되고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 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있고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,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이에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따라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빠르게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발전해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왔다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.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하지만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LLM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아직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 </a:t>
            </a:r>
            <a:r>
              <a:rPr lang="ko-KR" sz="2000" b="true" i="false" u="none" strike="noStrike">
                <a:solidFill>
                  <a:srgbClr val="2C2C2C"/>
                </a:solidFill>
                <a:ea typeface="Pretendard Regular"/>
              </a:rPr>
              <a:t>언어</a:t>
            </a:r>
            <a:r>
              <a:rPr lang="en-US" sz="2000" b="tru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2C2C2C"/>
                </a:solidFill>
                <a:ea typeface="Pretendard Regular"/>
              </a:rPr>
              <a:t>이해</a:t>
            </a:r>
            <a:r>
              <a:rPr lang="en-US" sz="2000" b="tru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2C2C2C"/>
                </a:solidFill>
                <a:ea typeface="Pretendard Regular"/>
              </a:rPr>
              <a:t>능력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에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관한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성능의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한계를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내포하고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있다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3200" y="1892300"/>
            <a:ext cx="74930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연구의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필요성</a:t>
            </a:r>
          </a:p>
        </p:txBody>
      </p:sp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00100" y="2667000"/>
            <a:ext cx="482600" cy="342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0" y="6832600"/>
            <a:ext cx="431800" cy="48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782800" y="4711700"/>
            <a:ext cx="431800" cy="495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21900" y="4724400"/>
            <a:ext cx="571500" cy="4953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98100" y="1638300"/>
            <a:ext cx="2336800" cy="2336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058400" y="927100"/>
            <a:ext cx="26162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0226"/>
              </a:lnSpc>
            </a:pPr>
            <a:r>
              <a:rPr lang="ko-KR" sz="2600" b="false" i="false" u="none" strike="noStrike" spc="-100">
                <a:solidFill>
                  <a:srgbClr val="000000"/>
                </a:solidFill>
                <a:ea typeface="S-Core Dream 4 Regular"/>
              </a:rPr>
              <a:t>환각</a:t>
            </a:r>
            <a:r>
              <a:rPr lang="en-US" sz="26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600" b="false" i="false" u="none" strike="noStrike" spc="-100">
                <a:solidFill>
                  <a:srgbClr val="000000"/>
                </a:solidFill>
                <a:ea typeface="S-Core Dream 4 Regular"/>
              </a:rPr>
              <a:t>현상</a:t>
            </a:r>
          </a:p>
        </p:txBody>
      </p:sp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553700" y="6629400"/>
            <a:ext cx="2006600" cy="2006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426700" y="8788400"/>
            <a:ext cx="22479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0226"/>
              </a:lnSpc>
            </a:pPr>
            <a:r>
              <a:rPr lang="ko-KR" sz="2300" b="false" i="false" u="none" strike="noStrike" spc="-100">
                <a:solidFill>
                  <a:srgbClr val="000000"/>
                </a:solidFill>
                <a:ea typeface="S-Core Dream 4 Regular"/>
              </a:rPr>
              <a:t>신뢰성</a:t>
            </a:r>
            <a:r>
              <a:rPr lang="en-US" sz="23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300" b="false" i="false" u="none" strike="noStrike" spc="-100">
                <a:solidFill>
                  <a:srgbClr val="000000"/>
                </a:solidFill>
                <a:ea typeface="S-Core Dream 4 Regular"/>
              </a:rPr>
              <a:t>감소</a:t>
            </a:r>
          </a:p>
        </p:txBody>
      </p:sp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27200" y="4648200"/>
            <a:ext cx="2260600" cy="2260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4300200" y="7073900"/>
            <a:ext cx="25273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0226"/>
              </a:lnSpc>
            </a:pPr>
            <a:r>
              <a:rPr lang="ko-KR" sz="2500" b="false" i="false" u="none" strike="noStrike" spc="-100">
                <a:solidFill>
                  <a:srgbClr val="000000"/>
                </a:solidFill>
                <a:ea typeface="S-Core Dream 4 Regular"/>
              </a:rPr>
              <a:t>효율성</a:t>
            </a:r>
            <a:r>
              <a:rPr lang="en-US" sz="25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500" b="false" i="false" u="none" strike="noStrike" spc="-100">
                <a:solidFill>
                  <a:srgbClr val="000000"/>
                </a:solidFill>
                <a:ea typeface="S-Core Dream 4 Regular"/>
              </a:rPr>
              <a:t>저하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 rot="0">
            <a:off x="11976100" y="4330700"/>
            <a:ext cx="1828800" cy="1828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alphaModFix amt="50000"/>
          </a:blip>
          <a:stretch>
            <a:fillRect/>
          </a:stretch>
        </p:blipFill>
        <p:spPr>
          <a:xfrm rot="7080000">
            <a:off x="12268200" y="6388100"/>
            <a:ext cx="317500" cy="165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>
            <a:alphaModFix amt="50000"/>
          </a:blip>
          <a:stretch>
            <a:fillRect/>
          </a:stretch>
        </p:blipFill>
        <p:spPr>
          <a:xfrm rot="-7140000">
            <a:off x="12268200" y="4025900"/>
            <a:ext cx="317500" cy="165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alphaModFix amt="50000"/>
          </a:blip>
          <a:stretch>
            <a:fillRect/>
          </a:stretch>
        </p:blipFill>
        <p:spPr>
          <a:xfrm rot="-10800000">
            <a:off x="13944600" y="5245100"/>
            <a:ext cx="317500" cy="1651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255500" y="4953000"/>
            <a:ext cx="12954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2714"/>
              </a:lnSpc>
            </a:pPr>
            <a:r>
              <a:rPr lang="ko-KR" sz="2000" b="true" i="false" u="none" strike="noStrike" spc="-100">
                <a:solidFill>
                  <a:srgbClr val="000000">
                    <a:alpha val="80000"/>
                  </a:srgbClr>
                </a:solidFill>
                <a:ea typeface="S-Core Dream 4 Regular"/>
              </a:rPr>
              <a:t>언어</a:t>
            </a:r>
            <a:r>
              <a:rPr lang="en-US" sz="2000" b="true" i="false" u="none" strike="noStrike" spc="-100">
                <a:solidFill>
                  <a:srgbClr val="000000">
                    <a:alpha val="80000"/>
                  </a:srgbClr>
                </a:solidFill>
                <a:latin typeface="S-Core Dream 4 Regular"/>
              </a:rPr>
              <a:t> </a:t>
            </a:r>
            <a:r>
              <a:rPr lang="ko-KR" sz="2000" b="true" i="false" u="none" strike="noStrike" spc="-100">
                <a:solidFill>
                  <a:srgbClr val="000000">
                    <a:alpha val="80000"/>
                  </a:srgbClr>
                </a:solidFill>
                <a:ea typeface="S-Core Dream 4 Regular"/>
              </a:rPr>
              <a:t>이해</a:t>
            </a:r>
            <a:r>
              <a:rPr lang="en-US" sz="2000" b="true" i="false" u="none" strike="noStrike" spc="-100">
                <a:solidFill>
                  <a:srgbClr val="000000">
                    <a:alpha val="80000"/>
                  </a:srgbClr>
                </a:solidFill>
                <a:latin typeface="S-Core Dream 4 Regular"/>
              </a:rPr>
              <a:t> </a:t>
            </a:r>
          </a:p>
          <a:p>
            <a:pPr algn="ctr" lvl="0">
              <a:lnSpc>
                <a:spcPct val="112714"/>
              </a:lnSpc>
            </a:pPr>
            <a:r>
              <a:rPr lang="ko-KR" sz="2000" b="true" i="false" u="none" strike="noStrike" spc="-100">
                <a:solidFill>
                  <a:srgbClr val="000000">
                    <a:alpha val="80000"/>
                  </a:srgbClr>
                </a:solidFill>
                <a:ea typeface="S-Core Dream 4 Regular"/>
              </a:rPr>
              <a:t>능력의</a:t>
            </a:r>
            <a:r>
              <a:rPr lang="en-US" sz="2000" b="true" i="false" u="none" strike="noStrike" spc="-100">
                <a:solidFill>
                  <a:srgbClr val="000000">
                    <a:alpha val="80000"/>
                  </a:srgbClr>
                </a:solidFill>
                <a:latin typeface="S-Core Dream 4 Regular"/>
              </a:rPr>
              <a:t> </a:t>
            </a:r>
            <a:r>
              <a:rPr lang="ko-KR" sz="2000" b="true" i="false" u="none" strike="noStrike" spc="-100">
                <a:solidFill>
                  <a:srgbClr val="000000">
                    <a:alpha val="80000"/>
                  </a:srgbClr>
                </a:solidFill>
                <a:ea typeface="S-Core Dream 4 Regular"/>
              </a:rPr>
              <a:t>저하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2580000">
            <a:off x="13068300" y="2933700"/>
            <a:ext cx="1117600" cy="1206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655300" y="2032000"/>
            <a:ext cx="1435100" cy="1435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11880000">
            <a:off x="13093700" y="6705600"/>
            <a:ext cx="1117600" cy="1206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808200" y="5207000"/>
            <a:ext cx="1549400" cy="1244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011400" y="5245100"/>
            <a:ext cx="1181100" cy="1181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036300" y="7493000"/>
            <a:ext cx="977900" cy="1028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807700" y="7213600"/>
            <a:ext cx="1549400" cy="635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807700" y="6565900"/>
            <a:ext cx="14986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419100"/>
            <a:ext cx="28321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11300" y="939800"/>
            <a:ext cx="20447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 spc="100">
                <a:solidFill>
                  <a:srgbClr val="FFFFFF"/>
                </a:solidFill>
                <a:latin typeface="Pretendard Medium"/>
              </a:rPr>
              <a:t>Introduction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-5400000">
            <a:off x="6007100" y="-152400"/>
            <a:ext cx="1295400" cy="848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6007100" y="1308100"/>
            <a:ext cx="1295400" cy="8483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-5400000">
            <a:off x="6007100" y="2768600"/>
            <a:ext cx="1295400" cy="8483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6007100" y="4229100"/>
            <a:ext cx="1295400" cy="8483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5400000">
            <a:off x="9004300" y="5969000"/>
            <a:ext cx="44704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090400" y="4432300"/>
            <a:ext cx="3759200" cy="3759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512800" y="5524500"/>
            <a:ext cx="901700" cy="90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690100" y="3721100"/>
            <a:ext cx="762000" cy="762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690100" y="8089900"/>
            <a:ext cx="762000" cy="762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690100" y="6629400"/>
            <a:ext cx="762000" cy="762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690100" y="5168900"/>
            <a:ext cx="762000" cy="762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>
            <a:alphaModFix amt="50000"/>
          </a:blip>
          <a:stretch>
            <a:fillRect/>
          </a:stretch>
        </p:blipFill>
        <p:spPr>
          <a:xfrm rot="0">
            <a:off x="10934700" y="5537200"/>
            <a:ext cx="596900" cy="1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>
            <a:alphaModFix amt="50000"/>
          </a:blip>
          <a:stretch>
            <a:fillRect/>
          </a:stretch>
        </p:blipFill>
        <p:spPr>
          <a:xfrm rot="0">
            <a:off x="10922000" y="6997700"/>
            <a:ext cx="5969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alphaModFix amt="50000"/>
          </a:blip>
          <a:stretch>
            <a:fillRect/>
          </a:stretch>
        </p:blipFill>
        <p:spPr>
          <a:xfrm rot="0">
            <a:off x="11518900" y="6286500"/>
            <a:ext cx="571500" cy="12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959100" y="3759200"/>
            <a:ext cx="41275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문제</a:t>
            </a:r>
            <a:r>
              <a:rPr lang="en-US" sz="21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분석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33700" y="4241800"/>
            <a:ext cx="60198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언어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이해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능력의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한계로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인해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생기는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문제의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원인과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결과를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규명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33700" y="5651500"/>
            <a:ext cx="59817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에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관한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기반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지식을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위한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관련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연구를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본다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59100" y="5181600"/>
            <a:ext cx="18288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관련</a:t>
            </a:r>
            <a:r>
              <a:rPr lang="en-US" sz="21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연구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33700" y="7150100"/>
            <a:ext cx="59436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성능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향상의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요인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분석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59100" y="6667500"/>
            <a:ext cx="41275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성능</a:t>
            </a:r>
            <a:r>
              <a:rPr lang="en-US" sz="21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향상의</a:t>
            </a:r>
            <a:r>
              <a:rPr lang="en-US" sz="21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요인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33700" y="8610600"/>
            <a:ext cx="4787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분석한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내용을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바탕으로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개선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방안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고안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59100" y="8128000"/>
            <a:ext cx="41275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개선</a:t>
            </a:r>
            <a:r>
              <a:rPr lang="en-US" sz="21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방안</a:t>
            </a:r>
            <a:r>
              <a:rPr lang="en-US" sz="21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고안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39800" y="4965700"/>
            <a:ext cx="6604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SemiBold"/>
              </a:rPr>
              <a:t>Goal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71400" y="6540500"/>
            <a:ext cx="29845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언어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이해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능력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-&gt; LLM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의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활용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가능성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높힘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807700" y="4013200"/>
            <a:ext cx="139700" cy="139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807700" y="5473700"/>
            <a:ext cx="139700" cy="139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807700" y="6934200"/>
            <a:ext cx="139700" cy="139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807700" y="8394700"/>
            <a:ext cx="139700" cy="139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4406900" y="1828800"/>
            <a:ext cx="94742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연구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목표와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연구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진행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2057400"/>
            <a:ext cx="17043400" cy="6172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44600" y="1866900"/>
            <a:ext cx="28321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351000" y="2387600"/>
            <a:ext cx="20320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retendard Medium"/>
              </a:rPr>
              <a:t>hypothesis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40100" y="8039100"/>
            <a:ext cx="165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7899"/>
              </a:lnSpc>
            </a:pPr>
            <a:r>
              <a:rPr lang="en-US" sz="1500" b="false" i="false" u="none" strike="noStrike" spc="100">
                <a:solidFill>
                  <a:srgbClr val="FFFFFF"/>
                </a:solidFill>
                <a:latin typeface="Pretendard Regular"/>
              </a:rPr>
              <a:t>KSEF 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5600" y="3644900"/>
            <a:ext cx="33655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관련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연구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.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76800" y="3606800"/>
            <a:ext cx="96520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6000" b="false" i="false" u="none" strike="noStrike">
                <a:solidFill>
                  <a:srgbClr val="00074E"/>
                </a:solidFill>
                <a:latin typeface="Pretendard Regular"/>
              </a:rPr>
              <a:t>ChatGPT vs StockFish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1800" y="4889500"/>
            <a:ext cx="91059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체스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엔진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Stockfish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와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ChatGPT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와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1000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번의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체스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대결을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수행시킨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연구</a:t>
            </a:r>
          </a:p>
          <a:p>
            <a:pPr algn="l" lvl="0">
              <a:lnSpc>
                <a:spcPct val="132800"/>
              </a:lnSpc>
            </a:pP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-&gt; LLM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은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사람이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전달하는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글을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이해할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있지만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그것을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실전에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적용하는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것에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한계가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있음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32800"/>
              </a:lnSpc>
            </a:pP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-&gt;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이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연구를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통해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LLM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은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추론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,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정보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응용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능력에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취약하다는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것을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알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Regular"/>
              </a:rPr>
              <a:t>있다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Regular"/>
              </a:rPr>
              <a:t>. 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419100"/>
            <a:ext cx="28321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562100" y="3822700"/>
            <a:ext cx="4826000" cy="530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62100" y="3822700"/>
            <a:ext cx="4826000" cy="2755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403600" y="3784600"/>
            <a:ext cx="1143000" cy="609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362200" y="7162800"/>
            <a:ext cx="3162300" cy="1879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문맥을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이해하거나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,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단어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다음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나올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단어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예측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,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학습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,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요약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등에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쓴다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또한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토큰의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최대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개수가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부족하면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응답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끊김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또는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정보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누락이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일어난다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5000" y="6756400"/>
            <a:ext cx="41275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토큰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6794500" y="3822700"/>
            <a:ext cx="4826000" cy="5308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794500" y="3822700"/>
            <a:ext cx="4826000" cy="2755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636000" y="3784600"/>
            <a:ext cx="1143000" cy="6096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7150100" y="6794500"/>
            <a:ext cx="41275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데이터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2039600" y="3822700"/>
            <a:ext cx="4826000" cy="5308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039600" y="3822700"/>
            <a:ext cx="4826000" cy="2755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881100" y="3784600"/>
            <a:ext cx="1143000" cy="609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395200" y="6832600"/>
            <a:ext cx="41275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74E"/>
                </a:solidFill>
                <a:ea typeface="Pretendard SemiBold"/>
              </a:rPr>
              <a:t>프롬프트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81900" y="7150100"/>
            <a:ext cx="3492500" cy="1879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창의성에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영향을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주며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학습에도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쓰인다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사람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입장에서는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지식백과사전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처리해야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하는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데이터가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너무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많거나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데이터의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다양성이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부족하다면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오정보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전달이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일어날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있다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65100" y="7061200"/>
            <a:ext cx="3162300" cy="1879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수행할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있는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정보를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정해준다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 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과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사람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사이의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메신저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어플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같은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것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프롬프트가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길거나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애매하면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오정보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전달이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일어날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있다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1300" y="1054100"/>
            <a:ext cx="20320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retendard Medium"/>
              </a:rPr>
              <a:t>hypothesis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55900" y="1270000"/>
            <a:ext cx="12903200" cy="186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73870"/>
              </a:lnSpc>
            </a:pPr>
            <a:r>
              <a:rPr lang="ko-KR" sz="5500" b="false" i="false" u="none" strike="noStrike" spc="300">
                <a:solidFill>
                  <a:srgbClr val="00074E"/>
                </a:solidFill>
                <a:ea typeface="Pretendard SemiBold"/>
              </a:rPr>
              <a:t>성능</a:t>
            </a: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 spc="300">
                <a:solidFill>
                  <a:srgbClr val="00074E"/>
                </a:solidFill>
                <a:ea typeface="Pretendard SemiBold"/>
              </a:rPr>
              <a:t>향상의</a:t>
            </a: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 spc="300">
                <a:solidFill>
                  <a:srgbClr val="00074E"/>
                </a:solidFill>
                <a:ea typeface="Pretendard SemiBold"/>
              </a:rPr>
              <a:t>요인</a:t>
            </a: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 spc="300">
                <a:solidFill>
                  <a:srgbClr val="00074E"/>
                </a:solidFill>
                <a:ea typeface="Pretendard SemiBold"/>
              </a:rPr>
              <a:t>분석</a:t>
            </a: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 </a:t>
            </a:r>
          </a:p>
          <a:p>
            <a:pPr algn="ctr" lvl="0">
              <a:lnSpc>
                <a:spcPct val="73870"/>
              </a:lnSpc>
            </a:pP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+</a:t>
            </a:r>
          </a:p>
          <a:p>
            <a:pPr algn="ctr" lvl="0">
              <a:lnSpc>
                <a:spcPct val="73870"/>
              </a:lnSpc>
            </a:pP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( </a:t>
            </a:r>
            <a:r>
              <a:rPr lang="ko-KR" sz="5500" b="false" i="false" u="none" strike="noStrike" spc="300">
                <a:solidFill>
                  <a:srgbClr val="00074E"/>
                </a:solidFill>
                <a:ea typeface="Pretendard SemiBold"/>
              </a:rPr>
              <a:t>성능</a:t>
            </a: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 spc="300">
                <a:solidFill>
                  <a:srgbClr val="00074E"/>
                </a:solidFill>
                <a:ea typeface="Pretendard SemiBold"/>
              </a:rPr>
              <a:t>저하의</a:t>
            </a: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 spc="300">
                <a:solidFill>
                  <a:srgbClr val="00074E"/>
                </a:solidFill>
                <a:ea typeface="Pretendard SemiBold"/>
              </a:rPr>
              <a:t>원인과</a:t>
            </a: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 spc="300">
                <a:solidFill>
                  <a:srgbClr val="00074E"/>
                </a:solidFill>
                <a:ea typeface="Pretendard SemiBold"/>
              </a:rPr>
              <a:t>결과</a:t>
            </a: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 spc="300">
                <a:solidFill>
                  <a:srgbClr val="00074E"/>
                </a:solidFill>
                <a:ea typeface="Pretendard SemiBold"/>
              </a:rPr>
              <a:t>규명</a:t>
            </a:r>
            <a:r>
              <a:rPr lang="en-US" sz="5500" b="false" i="false" u="none" strike="noStrike" spc="300">
                <a:solidFill>
                  <a:srgbClr val="00074E"/>
                </a:solidFill>
                <a:latin typeface="Pretendard SemiBold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419100"/>
            <a:ext cx="28321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55200" y="4864100"/>
            <a:ext cx="6172200" cy="1727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11300" y="939800"/>
            <a:ext cx="20447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 spc="100">
                <a:solidFill>
                  <a:srgbClr val="FFFFFF"/>
                </a:solidFill>
                <a:latin typeface="Pretendard Medium"/>
              </a:rPr>
              <a:t>hypothesis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49800" y="3530600"/>
            <a:ext cx="87122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토큰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,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데이터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,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프롬프트의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문제를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해결하는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방법만으로는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성능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계선에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한계가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있다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32800"/>
              </a:lnSpc>
            </a:pP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-&gt;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새로운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방안이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필요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06900" y="1828800"/>
            <a:ext cx="94742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개선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방안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고안</a:t>
            </a:r>
          </a:p>
        </p:txBody>
      </p:sp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82800" y="6184900"/>
            <a:ext cx="5956300" cy="2324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82800" y="4978400"/>
            <a:ext cx="5956300" cy="1663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772400" y="6464300"/>
            <a:ext cx="1549400" cy="15494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461500" y="6311900"/>
            <a:ext cx="3035300" cy="2273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63100" y="6413500"/>
            <a:ext cx="2832100" cy="1524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98400" y="6807200"/>
            <a:ext cx="1270000" cy="901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122400" y="6350000"/>
            <a:ext cx="1828800" cy="1828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01700" y="8534400"/>
            <a:ext cx="79756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74E"/>
                </a:solidFill>
                <a:ea typeface="Pretendard SemiBold"/>
              </a:rPr>
              <a:t>비판적</a:t>
            </a:r>
            <a:r>
              <a:rPr lang="en-US" sz="29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00074E"/>
                </a:solidFill>
                <a:ea typeface="Pretendard SemiBold"/>
              </a:rPr>
              <a:t>사고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97700" y="8572500"/>
            <a:ext cx="79756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74E"/>
                </a:solidFill>
                <a:latin typeface="Pretendard SemiBold"/>
              </a:rPr>
              <a:t>LLM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12500" y="8585200"/>
            <a:ext cx="79756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74E"/>
                </a:solidFill>
                <a:ea typeface="Pretendard SemiBold"/>
              </a:rPr>
              <a:t>성능</a:t>
            </a:r>
            <a:r>
              <a:rPr lang="en-US" sz="29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00074E"/>
                </a:solidFill>
                <a:ea typeface="Pretendard SemiBold"/>
              </a:rPr>
              <a:t>향상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06900" y="4622800"/>
            <a:ext cx="94742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연구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가설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419100"/>
            <a:ext cx="28321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11300" y="622300"/>
            <a:ext cx="20447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 spc="100">
                <a:solidFill>
                  <a:srgbClr val="FFFFFF"/>
                </a:solidFill>
                <a:latin typeface="Pretendard Medium"/>
              </a:rPr>
              <a:t>Experimental Procedures and Findings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5143500"/>
            <a:ext cx="17043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566900" y="7772400"/>
            <a:ext cx="812800" cy="812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389100" y="4457700"/>
            <a:ext cx="1168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retendard Medium"/>
              </a:rPr>
              <a:t>Step 4</a:t>
            </a:r>
          </a:p>
        </p:txBody>
      </p:sp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3441700" y="3619500"/>
            <a:ext cx="3619500" cy="4965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27900" y="3619500"/>
            <a:ext cx="3619500" cy="4965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1226800" y="3619500"/>
            <a:ext cx="3619500" cy="4965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4673600" y="3937000"/>
            <a:ext cx="1168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74E"/>
                </a:solidFill>
                <a:latin typeface="Pretendard Medium"/>
              </a:rPr>
              <a:t>Step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0" y="3937000"/>
            <a:ext cx="11557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74E"/>
                </a:solidFill>
                <a:latin typeface="Pretendard Medium"/>
              </a:rPr>
              <a:t>Step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46000" y="3937000"/>
            <a:ext cx="1168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74E"/>
                </a:solidFill>
                <a:latin typeface="Pretendard Medium"/>
              </a:rPr>
              <a:t>Step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71900" y="5041900"/>
            <a:ext cx="29718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00074E"/>
                </a:solidFill>
                <a:latin typeface="Pretendard SemiBold"/>
              </a:rPr>
              <a:t>LLM </a:t>
            </a:r>
            <a:r>
              <a:rPr lang="ko-KR" sz="2200" b="false" i="false" u="none" strike="noStrike">
                <a:solidFill>
                  <a:srgbClr val="00074E"/>
                </a:solidFill>
                <a:ea typeface="Pretendard SemiBold"/>
              </a:rPr>
              <a:t>구현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83000" y="5638800"/>
            <a:ext cx="3149600" cy="1346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학습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시킬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데이터셋을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구축하고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소스코드를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가져와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보통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컴퓨터에서도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구동할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있도록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효율성을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극대화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시킨다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69200" y="5638800"/>
            <a:ext cx="3149600" cy="1346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작동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방식을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그냥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응답을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생성하는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것이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아닌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프롬프트에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대한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가설을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세우고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이를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입증하여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응답을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생성하도록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변형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   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55400" y="5715000"/>
            <a:ext cx="31496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기존의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과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비판적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사고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LLM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답변의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품질을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보고</a:t>
            </a:r>
            <a:r>
              <a:rPr lang="en-US" sz="18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2C2C2C"/>
                </a:solidFill>
                <a:ea typeface="Pretendard Regular"/>
              </a:rPr>
              <a:t>비교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8100" y="5041900"/>
            <a:ext cx="29718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00074E"/>
                </a:solidFill>
                <a:latin typeface="Pretendard SemiBold"/>
              </a:rPr>
              <a:t>LLM + </a:t>
            </a:r>
            <a:r>
              <a:rPr lang="ko-KR" sz="2200" b="false" i="false" u="none" strike="noStrike">
                <a:solidFill>
                  <a:srgbClr val="00074E"/>
                </a:solidFill>
                <a:ea typeface="Pretendard SemiBold"/>
              </a:rPr>
              <a:t>비판적</a:t>
            </a:r>
            <a:r>
              <a:rPr lang="en-US" sz="22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00074E"/>
                </a:solidFill>
                <a:ea typeface="Pretendard SemiBold"/>
              </a:rPr>
              <a:t>사고</a:t>
            </a:r>
            <a:r>
              <a:rPr lang="en-US" sz="22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00074E"/>
                </a:solidFill>
                <a:ea typeface="Pretendard SemiBold"/>
              </a:rPr>
              <a:t>방식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44300" y="5041900"/>
            <a:ext cx="29718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00074E"/>
                </a:solidFill>
                <a:ea typeface="Pretendard SemiBold"/>
              </a:rPr>
              <a:t>비교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06900" y="1828800"/>
            <a:ext cx="94742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실험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방법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419100"/>
            <a:ext cx="28321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11300" y="622300"/>
            <a:ext cx="20447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 spc="100">
                <a:solidFill>
                  <a:srgbClr val="FFFFFF"/>
                </a:solidFill>
                <a:latin typeface="Pretendard Medium"/>
              </a:rPr>
              <a:t>Experimental Procedures and Findings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5143500"/>
            <a:ext cx="17043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566900" y="7772400"/>
            <a:ext cx="812800" cy="812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36100" y="2832100"/>
            <a:ext cx="7810500" cy="5257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81200" y="2921000"/>
            <a:ext cx="7162800" cy="5168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389100" y="4457700"/>
            <a:ext cx="1168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retendard Medium"/>
              </a:rPr>
              <a:t>Step 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06900" y="1828800"/>
            <a:ext cx="94742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데이터셋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&amp;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모델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81100" y="419100"/>
            <a:ext cx="28321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274800" y="622300"/>
            <a:ext cx="20447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 spc="100">
                <a:solidFill>
                  <a:srgbClr val="FFFFFF"/>
                </a:solidFill>
                <a:latin typeface="Pretendard Medium"/>
              </a:rPr>
              <a:t>Experimental Procedures and Findings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52700" y="7975600"/>
            <a:ext cx="131826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0">
            <a:off x="7708900" y="4800600"/>
            <a:ext cx="28575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0">
            <a:off x="7708900" y="5867400"/>
            <a:ext cx="28575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0">
            <a:off x="7708900" y="6985000"/>
            <a:ext cx="28575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781300" y="8280400"/>
            <a:ext cx="1790700" cy="52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 rot="5400000">
            <a:off x="4533900" y="2311400"/>
            <a:ext cx="1003300" cy="4953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alphaModFix amt="10000"/>
          </a:blip>
          <a:stretch>
            <a:fillRect/>
          </a:stretch>
        </p:blipFill>
        <p:spPr>
          <a:xfrm rot="5400000">
            <a:off x="4533900" y="3416300"/>
            <a:ext cx="1003300" cy="4953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alphaModFix amt="10000"/>
          </a:blip>
          <a:stretch>
            <a:fillRect/>
          </a:stretch>
        </p:blipFill>
        <p:spPr>
          <a:xfrm rot="5400000">
            <a:off x="4533900" y="4533900"/>
            <a:ext cx="1003300" cy="4953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12750800" y="2311400"/>
            <a:ext cx="1003300" cy="4953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12750800" y="3416300"/>
            <a:ext cx="1003300" cy="4953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12750800" y="4533900"/>
            <a:ext cx="1003300" cy="4953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971800" y="3632200"/>
            <a:ext cx="4127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2C2C2C"/>
                </a:solidFill>
                <a:latin typeface="Pretendard Medium"/>
              </a:rPr>
              <a:t>LLM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88700" y="3632200"/>
            <a:ext cx="4127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2C2C2C"/>
                </a:solidFill>
                <a:ea typeface="Pretendard Medium"/>
              </a:rPr>
              <a:t>비판적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C2C2C"/>
                </a:solidFill>
                <a:ea typeface="Pretendard Medium"/>
              </a:rPr>
              <a:t>사고</a:t>
            </a:r>
            <a:r>
              <a:rPr lang="en-US" sz="2000" b="false" i="false" u="none" strike="noStrike">
                <a:solidFill>
                  <a:srgbClr val="2C2C2C"/>
                </a:solidFill>
                <a:latin typeface="Pretendard Medium"/>
              </a:rPr>
              <a:t> LLM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43300" y="4597400"/>
            <a:ext cx="2984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74E"/>
                </a:solidFill>
                <a:latin typeface="Pretendard Regular"/>
              </a:rPr>
              <a:t>5</a:t>
            </a:r>
            <a:r>
              <a:rPr lang="ko-KR" sz="2000" b="false" i="false" u="none" strike="noStrike">
                <a:solidFill>
                  <a:srgbClr val="00074E"/>
                </a:solidFill>
                <a:ea typeface="Pretendard Regular"/>
              </a:rPr>
              <a:t>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71800" y="5715000"/>
            <a:ext cx="4127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74E"/>
                </a:solidFill>
                <a:latin typeface="Pretendard Regular"/>
              </a:rPr>
              <a:t>3</a:t>
            </a:r>
            <a:r>
              <a:rPr lang="ko-KR" sz="2000" b="false" i="false" u="none" strike="noStrike">
                <a:solidFill>
                  <a:srgbClr val="00074E"/>
                </a:solidFill>
                <a:ea typeface="Pretendard Regular"/>
              </a:rPr>
              <a:t>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71800" y="6819900"/>
            <a:ext cx="4127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74E"/>
                </a:solidFill>
                <a:latin typeface="Pretendard Regular"/>
              </a:rPr>
              <a:t>6</a:t>
            </a:r>
            <a:r>
              <a:rPr lang="ko-KR" sz="2000" b="false" i="false" u="none" strike="noStrike">
                <a:solidFill>
                  <a:srgbClr val="00074E"/>
                </a:solidFill>
                <a:ea typeface="Pretendard Regular"/>
              </a:rPr>
              <a:t>점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88700" y="4597400"/>
            <a:ext cx="4127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Regular"/>
              </a:rPr>
              <a:t>4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Regular"/>
              </a:rPr>
              <a:t>점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88700" y="5715000"/>
            <a:ext cx="4127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Regular"/>
              </a:rPr>
              <a:t>6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Regular"/>
              </a:rPr>
              <a:t>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88700" y="6819900"/>
            <a:ext cx="4127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Regular"/>
              </a:rPr>
              <a:t>7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Regular"/>
              </a:rPr>
              <a:t>점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26100" y="8356600"/>
            <a:ext cx="102489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0.466/1.000 -&gt; 0.566/1.000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으로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성능이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확연하게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개선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Pretendard SemiBold"/>
              </a:rPr>
              <a:t>되었다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SemiBold"/>
              </a:rPr>
              <a:t>.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823200" y="4419600"/>
            <a:ext cx="3149600" cy="31242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4406900" y="1828800"/>
            <a:ext cx="94742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Bold"/>
              </a:rPr>
              <a:t>실험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Bold"/>
              </a:rPr>
              <a:t>결과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35300" y="8369300"/>
            <a:ext cx="12954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900" b="false" i="false" u="none" strike="noStrike">
                <a:solidFill>
                  <a:srgbClr val="00074E"/>
                </a:solidFill>
                <a:ea typeface="Pretendard SemiBold"/>
              </a:rPr>
              <a:t>결과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81100" y="419100"/>
            <a:ext cx="28321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41300" y="1117600"/>
            <a:ext cx="47117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 spc="100">
                <a:solidFill>
                  <a:srgbClr val="FFFFFF"/>
                </a:solidFill>
                <a:latin typeface="Pretendard Medium"/>
              </a:rPr>
              <a:t>Conclusion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781300" y="8280400"/>
            <a:ext cx="1790700" cy="520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188700" y="6819900"/>
            <a:ext cx="4127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Regular"/>
              </a:rPr>
              <a:t>7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Regular"/>
              </a:rPr>
              <a:t>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06900" y="1828800"/>
            <a:ext cx="94742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Bold"/>
              </a:rPr>
              <a:t>결론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5300" y="4114800"/>
            <a:ext cx="6946900" cy="226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제한된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컴퓨터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성능</a:t>
            </a:r>
          </a:p>
          <a:p>
            <a:pPr algn="l" lvl="0" indent="-342900" marL="342900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부족한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한국어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데이터</a:t>
            </a:r>
          </a:p>
          <a:p>
            <a:pPr algn="l" lvl="0" indent="-342900" marL="342900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성능이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좋지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않는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LLM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개선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됐지만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성능이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좋은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LLM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의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분명한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개선이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되지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않을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수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있음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 </a:t>
            </a:r>
          </a:p>
          <a:p>
            <a:pPr algn="l" lvl="0" indent="-342900" marL="342900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성능이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안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좋아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벤치마크를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할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수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없어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평가지표의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문장들을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선정해서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평가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함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7500" y="3416300"/>
            <a:ext cx="74676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300" b="false" i="false" u="none" strike="noStrike">
                <a:solidFill>
                  <a:srgbClr val="00074E"/>
                </a:solidFill>
                <a:ea typeface="Pretendard SemiBold"/>
              </a:rPr>
              <a:t>한계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600" y="5880100"/>
            <a:ext cx="6946900" cy="1879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>
              <a:lnSpc>
                <a:spcPct val="132800"/>
              </a:lnSpc>
            </a:pP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논리적으로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가능한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방안이며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실제로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실험으로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입증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했기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때문에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더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좋은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컴퓨터와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더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가치있고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다양성이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높은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정제된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데이터셋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등더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좋은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환경에서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실험을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진행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할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필요가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있다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.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또한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성능평가가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선정된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일정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문장들로만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이루어져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LLM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관점에서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난해한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문장과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같은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다른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문제에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대한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추가적인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연구도</a:t>
            </a:r>
            <a:r>
              <a:rPr lang="en-US" sz="1900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2C2C2C"/>
                </a:solidFill>
                <a:ea typeface="Pretendard Regular"/>
              </a:rPr>
              <a:t>요구된다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74200" y="8483600"/>
            <a:ext cx="74676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300" b="false" i="false" u="none" strike="noStrike">
                <a:solidFill>
                  <a:srgbClr val="00074E"/>
                </a:solidFill>
                <a:ea typeface="Pretendard SemiBold"/>
              </a:rPr>
              <a:t>향후</a:t>
            </a:r>
            <a:r>
              <a:rPr lang="en-US" sz="43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4300" b="false" i="false" u="none" strike="noStrike">
                <a:solidFill>
                  <a:srgbClr val="00074E"/>
                </a:solidFill>
                <a:ea typeface="Pretendard SemiBold"/>
              </a:rPr>
              <a:t>연구</a:t>
            </a:r>
            <a:r>
              <a:rPr lang="en-US" sz="43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4300" b="false" i="false" u="none" strike="noStrike">
                <a:solidFill>
                  <a:srgbClr val="00074E"/>
                </a:solidFill>
                <a:ea typeface="Pretendard SemiBold"/>
              </a:rPr>
              <a:t>동향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2057400"/>
            <a:ext cx="17043400" cy="6172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44600" y="1866900"/>
            <a:ext cx="28321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351000" y="2387600"/>
            <a:ext cx="20320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retendard Medium"/>
              </a:rPr>
              <a:t>Finish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40100" y="8039100"/>
            <a:ext cx="165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7899"/>
              </a:lnSpc>
            </a:pPr>
            <a:r>
              <a:rPr lang="en-US" sz="1500" b="false" i="false" u="none" strike="noStrike" spc="100">
                <a:solidFill>
                  <a:srgbClr val="FFFFFF"/>
                </a:solidFill>
                <a:latin typeface="Pretendard Regular"/>
              </a:rPr>
              <a:t>KSEF 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5600" y="3644900"/>
            <a:ext cx="33655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출처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4200" y="4749800"/>
            <a:ext cx="57188100" cy="297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3000" b="true" i="false" u="none" strike="noStrike">
                <a:solidFill>
                  <a:srgbClr val="2C2C2C"/>
                </a:solidFill>
                <a:ea typeface="Pretendard Regular"/>
              </a:rPr>
              <a:t>사진</a:t>
            </a:r>
          </a:p>
          <a:p>
            <a:pPr algn="l" lvl="0">
              <a:lnSpc>
                <a:spcPct val="132800"/>
              </a:lnSpc>
            </a:pPr>
            <a:r>
              <a:rPr lang="en-US" sz="3000" b="true" i="false" u="none" strike="noStrike">
                <a:solidFill>
                  <a:srgbClr val="2C2C2C"/>
                </a:solidFill>
                <a:latin typeface="Pretendard Regular"/>
              </a:rPr>
              <a:t>https://www.easiio.com/ko/llm-token/</a:t>
            </a:r>
          </a:p>
          <a:p>
            <a:pPr algn="l" lvl="0">
              <a:lnSpc>
                <a:spcPct val="132800"/>
              </a:lnSpc>
            </a:pPr>
            <a:r>
              <a:rPr lang="en-US" sz="3000" b="true" i="false" u="none" strike="noStrike">
                <a:solidFill>
                  <a:srgbClr val="2C2C2C"/>
                </a:solidFill>
                <a:latin typeface="Pretendard Regular"/>
              </a:rPr>
              <a:t>https://media.fastcampus.co.kr/knowledge/data-science/bigdata/</a:t>
            </a:r>
          </a:p>
          <a:p>
            <a:pPr algn="l" lvl="0">
              <a:lnSpc>
                <a:spcPct val="132800"/>
              </a:lnSpc>
            </a:pPr>
            <a:r>
              <a:rPr lang="en-US" sz="3000" b="false" i="false" u="none" strike="noStrike">
                <a:solidFill>
                  <a:srgbClr val="2C2C2C"/>
                </a:solidFill>
                <a:latin typeface="Pretendard Regular"/>
              </a:rPr>
              <a:t>https://medium.com/search?q=prompt+%ED%99%9C%EC%9A%A9%ED%8E%B8</a:t>
            </a:r>
          </a:p>
          <a:p>
            <a:pPr algn="l" lvl="0">
              <a:lnSpc>
                <a:spcPct val="132800"/>
              </a:lnSpc>
            </a:pPr>
            <a:r>
              <a:rPr lang="en-US" sz="3000" b="false" i="false" u="none" strike="noStrike">
                <a:solidFill>
                  <a:srgbClr val="2C2C2C"/>
                </a:solidFill>
                <a:latin typeface="Pretendard Regular"/>
              </a:rPr>
              <a:t>https://we-co.tistory.com/200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2057400"/>
            <a:ext cx="17043400" cy="6172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44600" y="1866900"/>
            <a:ext cx="2832100" cy="149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351000" y="2387600"/>
            <a:ext cx="20320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retendard Medium"/>
              </a:rPr>
              <a:t>Finish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40100" y="8039100"/>
            <a:ext cx="165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7899"/>
              </a:lnSpc>
            </a:pPr>
            <a:r>
              <a:rPr lang="en-US" sz="1500" b="false" i="false" u="none" strike="noStrike" spc="100">
                <a:solidFill>
                  <a:srgbClr val="FFFFFF"/>
                </a:solidFill>
                <a:latin typeface="Pretendard Regular"/>
              </a:rPr>
              <a:t>KSEF 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5600" y="3644900"/>
            <a:ext cx="152146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Thank U For Listening.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6700" y="4622800"/>
            <a:ext cx="152146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들어주셔서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5500" b="false" i="false" u="none" strike="noStrike">
                <a:solidFill>
                  <a:srgbClr val="00074E"/>
                </a:solidFill>
                <a:ea typeface="Pretendard SemiBold"/>
              </a:rPr>
              <a:t>감사합니다</a:t>
            </a:r>
            <a:r>
              <a:rPr lang="en-US" sz="5500" b="false" i="false" u="none" strike="noStrike">
                <a:solidFill>
                  <a:srgbClr val="00074E"/>
                </a:solidFill>
                <a:latin typeface="Pretendard SemiBold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